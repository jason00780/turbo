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v5r0f2pOXqB6lSLdevw3oHMzk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D68E33-2BC1-4405-ABAB-5BA0B619475C}">
  <a:tblStyle styleId="{13D68E33-2BC1-4405-ABAB-5BA0B619475C}" styleName="Table_0">
    <a:wholeTbl>
      <a:tcTxStyle b="off" i="off">
        <a:font>
          <a:latin typeface="Microsoft JhengHei"/>
          <a:ea typeface="Microsoft JhengHei"/>
          <a:cs typeface="Microsoft JhengHe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E9E9"/>
          </a:solidFill>
        </a:fill>
      </a:tcStyle>
    </a:wholeTbl>
    <a:band1H>
      <a:tcTxStyle/>
      <a:tcStyle>
        <a:fill>
          <a:solidFill>
            <a:srgbClr val="FFD0D1"/>
          </a:solidFill>
        </a:fill>
      </a:tcStyle>
    </a:band1H>
    <a:band2H>
      <a:tcTxStyle/>
    </a:band2H>
    <a:band1V>
      <a:tcTxStyle/>
      <a:tcStyle>
        <a:fill>
          <a:solidFill>
            <a:srgbClr val="FFD0D1"/>
          </a:solidFill>
        </a:fill>
      </a:tcStyle>
    </a:band1V>
    <a:band2V>
      <a:tcTxStyle/>
    </a:band2V>
    <a:lastCol>
      <a:tcTxStyle b="on" i="off">
        <a:font>
          <a:latin typeface="Microsoft JhengHei"/>
          <a:ea typeface="Microsoft JhengHei"/>
          <a:cs typeface="Microsoft JhengHe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Microsoft JhengHei"/>
          <a:ea typeface="Microsoft JhengHei"/>
          <a:cs typeface="Microsoft JhengHe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Microsoft JhengHei"/>
          <a:ea typeface="Microsoft JhengHei"/>
          <a:cs typeface="Microsoft JhengHe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Microsoft JhengHei"/>
          <a:ea typeface="Microsoft JhengHei"/>
          <a:cs typeface="Microsoft JhengHe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Title">
  <p:cSld name="Dark Title">
    <p:bg>
      <p:bgPr>
        <a:solidFill>
          <a:schemeClr val="dk2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title"/>
          </p:nvPr>
        </p:nvSpPr>
        <p:spPr>
          <a:xfrm>
            <a:off x="548640" y="141732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icrosoft JhengHei"/>
              <a:buNone/>
              <a:defRPr b="1" i="0" sz="40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5"/>
          <p:cNvSpPr txBox="1"/>
          <p:nvPr>
            <p:ph idx="1" type="body"/>
          </p:nvPr>
        </p:nvSpPr>
        <p:spPr>
          <a:xfrm>
            <a:off x="548640" y="246888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6"/>
          <p:cNvSpPr txBox="1"/>
          <p:nvPr>
            <p:ph type="title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icrosoft JhengHei"/>
              <a:buNone/>
              <a:defRPr b="1" i="0" sz="3000" u="none" cap="none" strike="noStrike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0" lvl="1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0" lvl="2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0" lvl="3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0" lvl="4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0" lvl="5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0" lvl="6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0" lvl="7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0" lvl="8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"/>
          <p:cNvSpPr txBox="1"/>
          <p:nvPr>
            <p:ph type="title"/>
          </p:nvPr>
        </p:nvSpPr>
        <p:spPr>
          <a:xfrm>
            <a:off x="548640" y="141732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icrosoft JhengHei"/>
              <a:buNone/>
            </a:pPr>
            <a:r>
              <a:rPr b="1" lang="en-US" sz="4000">
                <a:solidFill>
                  <a:schemeClr val="lt1"/>
                </a:solidFill>
              </a:rPr>
              <a:t>幫香港商戶「帶客」嘅平台</a:t>
            </a:r>
            <a:endParaRPr/>
          </a:p>
        </p:txBody>
      </p:sp>
      <p:sp>
        <p:nvSpPr>
          <p:cNvPr id="23" name="Google Shape;23;p1"/>
          <p:cNvSpPr txBox="1"/>
          <p:nvPr>
            <p:ph idx="1" type="body"/>
          </p:nvPr>
        </p:nvSpPr>
        <p:spPr>
          <a:xfrm>
            <a:off x="548640" y="246888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</a:pPr>
            <a:r>
              <a:rPr lang="en-US" sz="1600">
                <a:solidFill>
                  <a:schemeClr val="accent2"/>
                </a:solidFill>
              </a:rPr>
              <a:t>商戶推廣平台提案 · [公司名] · 2026 年 10 月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 txBox="1"/>
          <p:nvPr>
            <p:ph type="title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icrosoft JhengHei"/>
              <a:buNone/>
            </a:pPr>
            <a:r>
              <a:rPr b="1" lang="en-US" sz="3000">
                <a:solidFill>
                  <a:schemeClr val="dk2"/>
                </a:solidFill>
              </a:rPr>
              <a:t>香港商戶嘅痛：客少咗，推廣錢又唔知有冇用</a:t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48640" y="1371600"/>
            <a:ext cx="2514600" cy="2651760"/>
          </a:xfrm>
          <a:prstGeom prst="roundRect">
            <a:avLst>
              <a:gd fmla="val 6000" name="adj"/>
            </a:avLst>
          </a:prstGeom>
          <a:solidFill>
            <a:srgbClr val="F4F1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685800" y="1645920"/>
            <a:ext cx="2240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5A5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2,034 : 1,779</a:t>
            </a:r>
            <a:endParaRPr/>
          </a:p>
        </p:txBody>
      </p:sp>
      <p:sp>
        <p:nvSpPr>
          <p:cNvPr id="31" name="Google Shape;31;p2"/>
          <p:cNvSpPr txBox="1"/>
          <p:nvPr/>
        </p:nvSpPr>
        <p:spPr>
          <a:xfrm>
            <a:off x="685800" y="2651760"/>
            <a:ext cx="2240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食肆結業 vs 新發牌照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六年嚟首次按年減少</a:t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3291840" y="1371600"/>
            <a:ext cx="2514600" cy="2651760"/>
          </a:xfrm>
          <a:prstGeom prst="roundRect">
            <a:avLst>
              <a:gd fmla="val 6000" name="adj"/>
            </a:avLst>
          </a:prstGeom>
          <a:solidFill>
            <a:srgbClr val="F4F1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3429000" y="1645920"/>
            <a:ext cx="2240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B54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HK$500 億</a:t>
            </a:r>
            <a:endParaRPr/>
          </a:p>
        </p:txBody>
      </p:sp>
      <p:sp>
        <p:nvSpPr>
          <p:cNvPr id="34" name="Google Shape;34;p2"/>
          <p:cNvSpPr txBox="1"/>
          <p:nvPr/>
        </p:nvSpPr>
        <p:spPr>
          <a:xfrm>
            <a:off x="3429000" y="2651760"/>
            <a:ext cx="2240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2025 年港人喺外地消費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約佔本地消費 9%</a:t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6035040" y="1371600"/>
            <a:ext cx="2514600" cy="2651760"/>
          </a:xfrm>
          <a:prstGeom prst="roundRect">
            <a:avLst>
              <a:gd fmla="val 6000" name="adj"/>
            </a:avLst>
          </a:prstGeom>
          <a:solidFill>
            <a:srgbClr val="F4F1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6172200" y="1645920"/>
            <a:ext cx="2240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7A5CF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$1.5k–15k</a:t>
            </a:r>
            <a:endParaRPr/>
          </a:p>
        </p:txBody>
      </p:sp>
      <p:sp>
        <p:nvSpPr>
          <p:cNvPr id="37" name="Google Shape;37;p2"/>
          <p:cNvSpPr txBox="1"/>
          <p:nvPr/>
        </p:nvSpPr>
        <p:spPr>
          <a:xfrm>
            <a:off x="6172200" y="2651760"/>
            <a:ext cx="2240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小紅書 KOL 每 post 一口價（HK$）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有冇客上門，冇人保證</a:t>
            </a:r>
            <a:endParaRPr/>
          </a:p>
        </p:txBody>
      </p:sp>
      <p:sp>
        <p:nvSpPr>
          <p:cNvPr id="38" name="Google Shape;38;p2"/>
          <p:cNvSpPr txBox="1"/>
          <p:nvPr/>
        </p:nvSpPr>
        <p:spPr>
          <a:xfrm>
            <a:off x="548640" y="44348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859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資料來源：Real Estate Asia、JLL、Eats365 KOL 指南（2025–26）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/>
          <p:cNvSpPr txBox="1"/>
          <p:nvPr>
            <p:ph type="title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icrosoft JhengHei"/>
              <a:buNone/>
            </a:pPr>
            <a:r>
              <a:rPr b="1" lang="en-US" sz="3000">
                <a:solidFill>
                  <a:schemeClr val="dk2"/>
                </a:solidFill>
              </a:rPr>
              <a:t>現有平台只幫你「搵 KOL」，冇人幫你「計成效」</a:t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548640" y="1280160"/>
            <a:ext cx="2514600" cy="3017520"/>
          </a:xfrm>
          <a:prstGeom prst="roundRect">
            <a:avLst>
              <a:gd fmla="val 6000" name="adj"/>
            </a:avLst>
          </a:prstGeom>
          <a:solidFill>
            <a:srgbClr val="F4F1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5" name="Google Shape;45;p3"/>
          <p:cNvSpPr txBox="1"/>
          <p:nvPr/>
        </p:nvSpPr>
        <p:spPr>
          <a:xfrm>
            <a:off x="731520" y="141732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C859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外國平台</a:t>
            </a:r>
            <a:endParaRPr/>
          </a:p>
        </p:txBody>
      </p:sp>
      <p:sp>
        <p:nvSpPr>
          <p:cNvPr id="46" name="Google Shape;46;p3"/>
          <p:cNvSpPr txBox="1"/>
          <p:nvPr/>
        </p:nvSpPr>
        <p:spPr>
          <a:xfrm>
            <a:off x="731520" y="1874519"/>
            <a:ext cx="21488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Collabstr（加拿大）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Kolr（台灣）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AnyTag（日本）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IG / TikTok / 小紅書市集</a:t>
            </a:r>
            <a:endParaRPr/>
          </a:p>
        </p:txBody>
      </p:sp>
      <p:sp>
        <p:nvSpPr>
          <p:cNvPr id="47" name="Google Shape;47;p3"/>
          <p:cNvSpPr txBox="1"/>
          <p:nvPr/>
        </p:nvSpPr>
        <p:spPr>
          <a:xfrm>
            <a:off x="731520" y="370332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C859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搵人、傾價、落單</a:t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3291840" y="1280160"/>
            <a:ext cx="2514600" cy="3017520"/>
          </a:xfrm>
          <a:prstGeom prst="roundRect">
            <a:avLst>
              <a:gd fmla="val 6000" name="adj"/>
            </a:avLst>
          </a:prstGeom>
          <a:solidFill>
            <a:srgbClr val="F4F1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9" name="Google Shape;49;p3"/>
          <p:cNvSpPr txBox="1"/>
          <p:nvPr/>
        </p:nvSpPr>
        <p:spPr>
          <a:xfrm>
            <a:off x="3474720" y="141732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BB8A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香港本地</a:t>
            </a:r>
            <a:endParaRPr/>
          </a:p>
        </p:txBody>
      </p:sp>
      <p:sp>
        <p:nvSpPr>
          <p:cNvPr id="50" name="Google Shape;50;p3"/>
          <p:cNvSpPr txBox="1"/>
          <p:nvPr/>
        </p:nvSpPr>
        <p:spPr>
          <a:xfrm>
            <a:off x="3474720" y="1874519"/>
            <a:ext cx="21488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PopaRed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Look4KOL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Try.Eat!</a:t>
            </a:r>
            <a:endParaRPr/>
          </a:p>
        </p:txBody>
      </p:sp>
      <p:sp>
        <p:nvSpPr>
          <p:cNvPr id="51" name="Google Shape;51;p3"/>
          <p:cNvSpPr txBox="1"/>
          <p:nvPr/>
        </p:nvSpPr>
        <p:spPr>
          <a:xfrm>
            <a:off x="3474720" y="370332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C859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搵人、配對、數據分析</a:t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6035040" y="1280160"/>
            <a:ext cx="2514600" cy="301752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9050">
            <a:solidFill>
              <a:srgbClr val="FF5A5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3" name="Google Shape;53;p3"/>
          <p:cNvSpPr txBox="1"/>
          <p:nvPr/>
        </p:nvSpPr>
        <p:spPr>
          <a:xfrm>
            <a:off x="6217920" y="141732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5A5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未有人做</a:t>
            </a:r>
            <a:endParaRPr/>
          </a:p>
        </p:txBody>
      </p:sp>
      <p:sp>
        <p:nvSpPr>
          <p:cNvPr id="54" name="Google Shape;54;p3"/>
          <p:cNvSpPr txBox="1"/>
          <p:nvPr/>
        </p:nvSpPr>
        <p:spPr>
          <a:xfrm>
            <a:off x="6217920" y="1874519"/>
            <a:ext cx="21488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按「到店核銷」先收錢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1F1A2B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商戶唔使再賭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一口價推廣費</a:t>
            </a:r>
            <a:endParaRPr/>
          </a:p>
        </p:txBody>
      </p:sp>
      <p:sp>
        <p:nvSpPr>
          <p:cNvPr id="55" name="Google Shape;55;p3"/>
          <p:cNvSpPr txBox="1"/>
          <p:nvPr/>
        </p:nvSpPr>
        <p:spPr>
          <a:xfrm>
            <a:off x="6217920" y="3429000"/>
            <a:ext cx="2148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C859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最接近：ShopBack Pay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C859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有到店回贈，但冇 KOL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"/>
          <p:cNvSpPr txBox="1"/>
          <p:nvPr>
            <p:ph type="title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icrosoft JhengHei"/>
              <a:buNone/>
            </a:pPr>
            <a:r>
              <a:rPr b="1" lang="en-US" sz="3000">
                <a:solidFill>
                  <a:schemeClr val="dk2"/>
                </a:solidFill>
              </a:rPr>
              <a:t>方向一：KOL × Coupon，按到店成效收費</a:t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548640" y="1280160"/>
            <a:ext cx="1874519" cy="2286000"/>
          </a:xfrm>
          <a:prstGeom prst="roundRect">
            <a:avLst>
              <a:gd fmla="val 6000" name="adj"/>
            </a:avLst>
          </a:prstGeom>
          <a:solidFill>
            <a:srgbClr val="F4F1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731520" y="1463040"/>
            <a:ext cx="384048" cy="384048"/>
          </a:xfrm>
          <a:prstGeom prst="roundRect">
            <a:avLst>
              <a:gd fmla="val 50000" name="adj"/>
            </a:avLst>
          </a:prstGeom>
          <a:solidFill>
            <a:srgbClr val="FF5A5F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</a:t>
            </a:r>
            <a:endParaRPr/>
          </a:p>
        </p:txBody>
      </p:sp>
      <p:sp>
        <p:nvSpPr>
          <p:cNvPr id="63" name="Google Shape;63;p4"/>
          <p:cNvSpPr txBox="1"/>
          <p:nvPr/>
        </p:nvSpPr>
        <p:spPr>
          <a:xfrm>
            <a:off x="685800" y="196596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商戶上架 coupon</a:t>
            </a:r>
            <a:endParaRPr/>
          </a:p>
        </p:txBody>
      </p:sp>
      <p:sp>
        <p:nvSpPr>
          <p:cNvPr id="64" name="Google Shape;64;p4"/>
          <p:cNvSpPr txBox="1"/>
          <p:nvPr/>
        </p:nvSpPr>
        <p:spPr>
          <a:xfrm>
            <a:off x="685800" y="2468880"/>
            <a:ext cx="1645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C859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例如堂食 9 折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C859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自己定佣金</a:t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2606040" y="1280160"/>
            <a:ext cx="1874519" cy="2286000"/>
          </a:xfrm>
          <a:prstGeom prst="roundRect">
            <a:avLst>
              <a:gd fmla="val 6000" name="adj"/>
            </a:avLst>
          </a:prstGeom>
          <a:solidFill>
            <a:srgbClr val="F4F1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2788920" y="1463040"/>
            <a:ext cx="384048" cy="384048"/>
          </a:xfrm>
          <a:prstGeom prst="roundRect">
            <a:avLst>
              <a:gd fmla="val 50000" name="adj"/>
            </a:avLst>
          </a:prstGeom>
          <a:solidFill>
            <a:srgbClr val="FFB547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endParaRPr/>
          </a:p>
        </p:txBody>
      </p:sp>
      <p:sp>
        <p:nvSpPr>
          <p:cNvPr id="67" name="Google Shape;67;p4"/>
          <p:cNvSpPr txBox="1"/>
          <p:nvPr/>
        </p:nvSpPr>
        <p:spPr>
          <a:xfrm>
            <a:off x="2743200" y="196596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KOL 攞專屬 code</a:t>
            </a:r>
            <a:endParaRPr/>
          </a:p>
        </p:txBody>
      </p:sp>
      <p:sp>
        <p:nvSpPr>
          <p:cNvPr id="68" name="Google Shape;68;p4"/>
          <p:cNvSpPr txBox="1"/>
          <p:nvPr/>
        </p:nvSpPr>
        <p:spPr>
          <a:xfrm>
            <a:off x="2743200" y="2468880"/>
            <a:ext cx="1645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C859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每個 KOL 有自己嘅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C859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連結同 QR</a:t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663440" y="1280160"/>
            <a:ext cx="1874519" cy="2286000"/>
          </a:xfrm>
          <a:prstGeom prst="roundRect">
            <a:avLst>
              <a:gd fmla="val 6000" name="adj"/>
            </a:avLst>
          </a:prstGeom>
          <a:solidFill>
            <a:srgbClr val="F4F1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846320" y="1463040"/>
            <a:ext cx="384048" cy="384048"/>
          </a:xfrm>
          <a:prstGeom prst="roundRect">
            <a:avLst>
              <a:gd fmla="val 50000" name="adj"/>
            </a:avLst>
          </a:prstGeom>
          <a:solidFill>
            <a:srgbClr val="2BB8A6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/>
          </a:p>
        </p:txBody>
      </p:sp>
      <p:sp>
        <p:nvSpPr>
          <p:cNvPr id="71" name="Google Shape;71;p4"/>
          <p:cNvSpPr txBox="1"/>
          <p:nvPr/>
        </p:nvSpPr>
        <p:spPr>
          <a:xfrm>
            <a:off x="4800600" y="196596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客人到店出示 QR</a:t>
            </a:r>
            <a:endParaRPr/>
          </a:p>
        </p:txBody>
      </p:sp>
      <p:sp>
        <p:nvSpPr>
          <p:cNvPr id="72" name="Google Shape;72;p4"/>
          <p:cNvSpPr txBox="1"/>
          <p:nvPr/>
        </p:nvSpPr>
        <p:spPr>
          <a:xfrm>
            <a:off x="4800600" y="2468880"/>
            <a:ext cx="1645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C859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店員一掃即核銷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C859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一次性，防重用</a:t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6720840" y="1280160"/>
            <a:ext cx="1874519" cy="2286000"/>
          </a:xfrm>
          <a:prstGeom prst="roundRect">
            <a:avLst>
              <a:gd fmla="val 6000" name="adj"/>
            </a:avLst>
          </a:prstGeom>
          <a:solidFill>
            <a:srgbClr val="F4F1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6903720" y="1463040"/>
            <a:ext cx="384048" cy="384048"/>
          </a:xfrm>
          <a:prstGeom prst="roundRect">
            <a:avLst>
              <a:gd fmla="val 50000" name="adj"/>
            </a:avLst>
          </a:prstGeom>
          <a:solidFill>
            <a:srgbClr val="7A5CFA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endParaRPr/>
          </a:p>
        </p:txBody>
      </p:sp>
      <p:sp>
        <p:nvSpPr>
          <p:cNvPr id="75" name="Google Shape;75;p4"/>
          <p:cNvSpPr txBox="1"/>
          <p:nvPr/>
        </p:nvSpPr>
        <p:spPr>
          <a:xfrm>
            <a:off x="6858000" y="196596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核銷先收錢</a:t>
            </a:r>
            <a:endParaRPr/>
          </a:p>
        </p:txBody>
      </p:sp>
      <p:sp>
        <p:nvSpPr>
          <p:cNvPr id="76" name="Google Shape;76;p4"/>
          <p:cNvSpPr txBox="1"/>
          <p:nvPr/>
        </p:nvSpPr>
        <p:spPr>
          <a:xfrm>
            <a:off x="6858000" y="2468880"/>
            <a:ext cx="1645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C859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平台按每次核銷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C859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抽佣，KOL 分佣</a:t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548640" y="3749039"/>
            <a:ext cx="8046720" cy="59436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9050">
            <a:solidFill>
              <a:srgbClr val="E8E3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8" name="Google Shape;78;p4"/>
          <p:cNvSpPr txBox="1"/>
          <p:nvPr/>
        </p:nvSpPr>
        <p:spPr>
          <a:xfrm>
            <a:off x="731520" y="379476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賣點：冇客上門，商戶唔使俾錢　·　首批商戶：你自己嘅餐飲生意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 txBox="1"/>
          <p:nvPr>
            <p:ph type="title"/>
          </p:nvPr>
        </p:nvSpPr>
        <p:spPr>
          <a:xfrm>
            <a:off x="548640" y="141732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icrosoft JhengHei"/>
              <a:buNone/>
            </a:pPr>
            <a:r>
              <a:rPr b="1" lang="en-US" sz="4000">
                <a:solidFill>
                  <a:schemeClr val="lt1"/>
                </a:solidFill>
              </a:rPr>
              <a:t>現場示範</a:t>
            </a:r>
            <a:endParaRPr/>
          </a:p>
        </p:txBody>
      </p:sp>
      <p:sp>
        <p:nvSpPr>
          <p:cNvPr id="84" name="Google Shape;84;p5"/>
          <p:cNvSpPr txBox="1"/>
          <p:nvPr>
            <p:ph idx="1" type="body"/>
          </p:nvPr>
        </p:nvSpPr>
        <p:spPr>
          <a:xfrm>
            <a:off x="548640" y="246888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</a:pPr>
            <a:r>
              <a:rPr lang="en-US" sz="1600">
                <a:solidFill>
                  <a:schemeClr val="accent2"/>
                </a:solidFill>
              </a:rPr>
              <a:t>商戶上架 → KOL 攞 code → 到店核銷 → 成效 dashboard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/>
          <p:nvPr>
            <p:ph type="title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icrosoft JhengHei"/>
              <a:buNone/>
            </a:pPr>
            <a:r>
              <a:rPr b="1" lang="en-US" sz="3000">
                <a:solidFill>
                  <a:schemeClr val="dk2"/>
                </a:solidFill>
              </a:rPr>
              <a:t>方向二：AI 幫商戶寫種草 post，一鍵變 Coupon</a:t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548640" y="1280160"/>
            <a:ext cx="2514600" cy="2377440"/>
          </a:xfrm>
          <a:prstGeom prst="roundRect">
            <a:avLst>
              <a:gd fmla="val 6000" name="adj"/>
            </a:avLst>
          </a:prstGeom>
          <a:solidFill>
            <a:srgbClr val="F4F1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731520" y="141732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5A5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小紅書</a:t>
            </a:r>
            <a:endParaRPr/>
          </a:p>
        </p:txBody>
      </p:sp>
      <p:sp>
        <p:nvSpPr>
          <p:cNvPr id="92" name="Google Shape;92;p6"/>
          <p:cNvSpPr txBox="1"/>
          <p:nvPr/>
        </p:nvSpPr>
        <p:spPr>
          <a:xfrm>
            <a:off x="731520" y="1874519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→ 內地遊客</a:t>
            </a:r>
            <a:endParaRPr/>
          </a:p>
        </p:txBody>
      </p:sp>
      <p:sp>
        <p:nvSpPr>
          <p:cNvPr id="93" name="Google Shape;93;p6"/>
          <p:cNvSpPr txBox="1"/>
          <p:nvPr/>
        </p:nvSpPr>
        <p:spPr>
          <a:xfrm>
            <a:off x="731520" y="2331720"/>
            <a:ext cx="2148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C859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寫簡體 post 草稿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C859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商戶審核後自己發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C859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香港日活 113 萬+，按年升 50%</a:t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3291840" y="1280160"/>
            <a:ext cx="2514600" cy="2377440"/>
          </a:xfrm>
          <a:prstGeom prst="roundRect">
            <a:avLst>
              <a:gd fmla="val 6000" name="adj"/>
            </a:avLst>
          </a:prstGeom>
          <a:solidFill>
            <a:srgbClr val="F4F1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3474720" y="141732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7A5CF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Threads</a:t>
            </a:r>
            <a:endParaRPr/>
          </a:p>
        </p:txBody>
      </p:sp>
      <p:sp>
        <p:nvSpPr>
          <p:cNvPr id="96" name="Google Shape;96;p6"/>
          <p:cNvSpPr txBox="1"/>
          <p:nvPr/>
        </p:nvSpPr>
        <p:spPr>
          <a:xfrm>
            <a:off x="3474720" y="1874519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→ 本地後生</a:t>
            </a:r>
            <a:endParaRPr/>
          </a:p>
        </p:txBody>
      </p:sp>
      <p:sp>
        <p:nvSpPr>
          <p:cNvPr id="97" name="Google Shape;97;p6"/>
          <p:cNvSpPr txBox="1"/>
          <p:nvPr/>
        </p:nvSpPr>
        <p:spPr>
          <a:xfrm>
            <a:off x="3474720" y="2331720"/>
            <a:ext cx="2148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C859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寫廣東話 post 草稿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C859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商戶審核後自己發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C859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適合限時 / 限量優惠</a:t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6035040" y="1280160"/>
            <a:ext cx="2514600" cy="23774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9050">
            <a:solidFill>
              <a:srgbClr val="2BB8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6217920" y="141732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BB8A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點運作</a:t>
            </a:r>
            <a:endParaRPr/>
          </a:p>
        </p:txBody>
      </p:sp>
      <p:sp>
        <p:nvSpPr>
          <p:cNvPr id="100" name="Google Shape;100;p6"/>
          <p:cNvSpPr txBox="1"/>
          <p:nvPr/>
        </p:nvSpPr>
        <p:spPr>
          <a:xfrm>
            <a:off x="6217920" y="1874519"/>
            <a:ext cx="21488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商戶上載相、餐牌、優惠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1F1A2B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寫好 post 草稿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商戶審核後自己發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1F1A2B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Post 帶 coupon 連結 / QR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客人到店核銷</a:t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548640" y="3794760"/>
            <a:ext cx="8046720" cy="5486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9050">
            <a:solidFill>
              <a:srgbClr val="E8E3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同方向一分別：KOL 幫你帶客；方向二你自己帶，我哋幫你寫 post、追蹤成效</a:t>
            </a:r>
            <a:endParaRPr/>
          </a:p>
        </p:txBody>
      </p:sp>
      <p:sp>
        <p:nvSpPr>
          <p:cNvPr id="103" name="Google Shape;103;p6"/>
          <p:cNvSpPr txBox="1"/>
          <p:nvPr/>
        </p:nvSpPr>
        <p:spPr>
          <a:xfrm>
            <a:off x="548640" y="44348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859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資料來源：Marketing-Interactive（小紅書香港日活，2025）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 txBox="1"/>
          <p:nvPr>
            <p:ph type="title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icrosoft JhengHei"/>
              <a:buNone/>
            </a:pPr>
            <a:r>
              <a:rPr b="1" lang="en-US" sz="3000">
                <a:solidFill>
                  <a:schemeClr val="dk2"/>
                </a:solidFill>
              </a:rPr>
              <a:t>兩個方向點揀？</a:t>
            </a:r>
            <a:endParaRPr/>
          </a:p>
        </p:txBody>
      </p:sp>
      <p:graphicFrame>
        <p:nvGraphicFramePr>
          <p:cNvPr id="109" name="Google Shape;109;p7"/>
          <p:cNvGraphicFramePr/>
          <p:nvPr/>
        </p:nvGraphicFramePr>
        <p:xfrm>
          <a:off x="548640" y="1234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{13D68E33-2BC1-4405-ABAB-5BA0B619475C}</a:tableStyleId>
              </a:tblPr>
              <a:tblGrid>
                <a:gridCol w="1645925"/>
                <a:gridCol w="3200400"/>
                <a:gridCol w="320040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>
                    <a:solidFill>
                      <a:srgbClr val="1F1A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</a:rPr>
                        <a:t>方向一：KOL × Coupon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1A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</a:rPr>
                        <a:t>方向二：AI 種草 post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1A2B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F1A2B"/>
                          </a:solidFill>
                        </a:rPr>
                        <a:t>帶客嘅人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4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F1A2B"/>
                          </a:solidFill>
                        </a:rPr>
                        <a:t>外面嘅 KOL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4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F1A2B"/>
                          </a:solidFill>
                        </a:rPr>
                        <a:t>商戶自己（我哋幫手寫 post）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4F1F8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F1A2B"/>
                          </a:solidFill>
                        </a:rPr>
                        <a:t>主要客源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F1A2B"/>
                          </a:solidFill>
                        </a:rPr>
                        <a:t>KOL 粉絲（本地為主）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F1A2B"/>
                          </a:solidFill>
                        </a:rPr>
                        <a:t>小紅書遊客、Threads 後生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F1A2B"/>
                          </a:solidFill>
                        </a:rPr>
                        <a:t>收入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4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F1A2B"/>
                          </a:solidFill>
                        </a:rPr>
                        <a:t>每次核銷抽佣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4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F1A2B"/>
                          </a:solidFill>
                        </a:rPr>
                        <a:t>月費 / 按 post 數量收費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4F1F8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F1A2B"/>
                          </a:solidFill>
                        </a:rPr>
                        <a:t>起步要搵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F1A2B"/>
                          </a:solidFill>
                        </a:rPr>
                        <a:t>商戶 + KOL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F1A2B"/>
                          </a:solidFill>
                        </a:rPr>
                        <a:t>商戶（唔使搵 KOL）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F1A2B"/>
                          </a:solidFill>
                        </a:rPr>
                        <a:t>主要風險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4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F1A2B"/>
                          </a:solidFill>
                        </a:rPr>
                        <a:t>大平台抄、櫃枱造假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4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F1A2B"/>
                          </a:solidFill>
                        </a:rPr>
                        <a:t>小紅書未見公開發文接口、內容質素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4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"/>
          <p:cNvSpPr txBox="1"/>
          <p:nvPr>
            <p:ph type="title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icrosoft JhengHei"/>
              <a:buNone/>
            </a:pPr>
            <a:r>
              <a:rPr b="1" lang="en-US" sz="3000">
                <a:solidFill>
                  <a:schemeClr val="dk2"/>
                </a:solidFill>
              </a:rPr>
              <a:t>起一次，兩個方向都用得：共用核銷系統</a:t>
            </a:r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3063240" y="1371600"/>
            <a:ext cx="3017520" cy="2377440"/>
          </a:xfrm>
          <a:prstGeom prst="roundRect">
            <a:avLst>
              <a:gd fmla="val 6000" name="adj"/>
            </a:avLst>
          </a:prstGeom>
          <a:solidFill>
            <a:srgbClr val="1F1A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6" name="Google Shape;116;p8"/>
          <p:cNvSpPr txBox="1"/>
          <p:nvPr/>
        </p:nvSpPr>
        <p:spPr>
          <a:xfrm>
            <a:off x="3246120" y="150876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Coupon 核銷核心</a:t>
            </a:r>
            <a:endParaRPr/>
          </a:p>
        </p:txBody>
      </p:sp>
      <p:sp>
        <p:nvSpPr>
          <p:cNvPr id="117" name="Google Shape;117;p8"/>
          <p:cNvSpPr txBox="1"/>
          <p:nvPr/>
        </p:nvSpPr>
        <p:spPr>
          <a:xfrm>
            <a:off x="3246120" y="2011680"/>
            <a:ext cx="26517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一次性 QR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店員手機掃碼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防重複使用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每個來源嘅成效報表</a:t>
            </a:r>
            <a:endParaRPr/>
          </a:p>
        </p:txBody>
      </p:sp>
      <p:sp>
        <p:nvSpPr>
          <p:cNvPr id="118" name="Google Shape;118;p8"/>
          <p:cNvSpPr/>
          <p:nvPr/>
        </p:nvSpPr>
        <p:spPr>
          <a:xfrm>
            <a:off x="548640" y="1828800"/>
            <a:ext cx="2194560" cy="14630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9050">
            <a:solidFill>
              <a:srgbClr val="FF5A5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640080" y="2011680"/>
            <a:ext cx="2011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5A5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方向一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5A5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KOL × Coupon</a:t>
            </a:r>
            <a:endParaRPr/>
          </a:p>
        </p:txBody>
      </p:sp>
      <p:sp>
        <p:nvSpPr>
          <p:cNvPr id="120" name="Google Shape;120;p8"/>
          <p:cNvSpPr/>
          <p:nvPr/>
        </p:nvSpPr>
        <p:spPr>
          <a:xfrm>
            <a:off x="6400800" y="1828800"/>
            <a:ext cx="2194560" cy="14630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9050">
            <a:solidFill>
              <a:srgbClr val="7A5CF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21" name="Google Shape;121;p8"/>
          <p:cNvSpPr txBox="1"/>
          <p:nvPr/>
        </p:nvSpPr>
        <p:spPr>
          <a:xfrm>
            <a:off x="6492240" y="2011680"/>
            <a:ext cx="2011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7A5CF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方向二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7A5CF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種草 post</a:t>
            </a:r>
            <a:endParaRPr/>
          </a:p>
        </p:txBody>
      </p:sp>
      <p:sp>
        <p:nvSpPr>
          <p:cNvPr id="122" name="Google Shape;122;p8"/>
          <p:cNvSpPr txBox="1"/>
          <p:nvPr/>
        </p:nvSpPr>
        <p:spPr>
          <a:xfrm>
            <a:off x="548640" y="393192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C859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日後可以接駁商戶現有 POS（例如 KPay），唔使由零做起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/>
          <p:nvPr>
            <p:ph type="title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icrosoft JhengHei"/>
              <a:buNone/>
            </a:pPr>
            <a:r>
              <a:rPr b="1" lang="en-US" sz="3000">
                <a:solidFill>
                  <a:schemeClr val="dk2"/>
                </a:solidFill>
              </a:rPr>
              <a:t>風險同對策</a:t>
            </a:r>
            <a:endParaRPr/>
          </a:p>
        </p:txBody>
      </p:sp>
      <p:sp>
        <p:nvSpPr>
          <p:cNvPr id="128" name="Google Shape;128;p9"/>
          <p:cNvSpPr/>
          <p:nvPr/>
        </p:nvSpPr>
        <p:spPr>
          <a:xfrm>
            <a:off x="548640" y="1280160"/>
            <a:ext cx="8046720" cy="868680"/>
          </a:xfrm>
          <a:prstGeom prst="roundRect">
            <a:avLst>
              <a:gd fmla="val 6000" name="adj"/>
            </a:avLst>
          </a:prstGeom>
          <a:solidFill>
            <a:srgbClr val="F4F1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731520" y="1517904"/>
            <a:ext cx="384048" cy="384048"/>
          </a:xfrm>
          <a:prstGeom prst="roundRect">
            <a:avLst>
              <a:gd fmla="val 50000" name="adj"/>
            </a:avLst>
          </a:prstGeom>
          <a:solidFill>
            <a:srgbClr val="FF5A5F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!</a:t>
            </a:r>
            <a:endParaRPr/>
          </a:p>
        </p:txBody>
      </p:sp>
      <p:sp>
        <p:nvSpPr>
          <p:cNvPr id="130" name="Google Shape;130;p9"/>
          <p:cNvSpPr txBox="1"/>
          <p:nvPr/>
        </p:nvSpPr>
        <p:spPr>
          <a:xfrm>
            <a:off x="1280160" y="138988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大平台加同類功能</a:t>
            </a:r>
            <a:endParaRPr/>
          </a:p>
        </p:txBody>
      </p:sp>
      <p:sp>
        <p:nvSpPr>
          <p:cNvPr id="131" name="Google Shape;131;p9"/>
          <p:cNvSpPr txBox="1"/>
          <p:nvPr/>
        </p:nvSpPr>
        <p:spPr>
          <a:xfrm>
            <a:off x="1280160" y="173736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C859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小紅書、美團、ShopBack</a:t>
            </a:r>
            <a:endParaRPr/>
          </a:p>
        </p:txBody>
      </p:sp>
      <p:sp>
        <p:nvSpPr>
          <p:cNvPr id="132" name="Google Shape;132;p9"/>
          <p:cNvSpPr txBox="1"/>
          <p:nvPr/>
        </p:nvSpPr>
        <p:spPr>
          <a:xfrm>
            <a:off x="4572000" y="1371600"/>
            <a:ext cx="3840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5A5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→ 行得快、本地化、唔綁單一平台</a:t>
            </a:r>
            <a:endParaRPr/>
          </a:p>
        </p:txBody>
      </p:sp>
      <p:sp>
        <p:nvSpPr>
          <p:cNvPr id="133" name="Google Shape;133;p9"/>
          <p:cNvSpPr/>
          <p:nvPr/>
        </p:nvSpPr>
        <p:spPr>
          <a:xfrm>
            <a:off x="548640" y="2304288"/>
            <a:ext cx="8046720" cy="868680"/>
          </a:xfrm>
          <a:prstGeom prst="roundRect">
            <a:avLst>
              <a:gd fmla="val 6000" name="adj"/>
            </a:avLst>
          </a:prstGeom>
          <a:solidFill>
            <a:srgbClr val="F4F1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731520" y="2542032"/>
            <a:ext cx="384048" cy="384048"/>
          </a:xfrm>
          <a:prstGeom prst="roundRect">
            <a:avLst>
              <a:gd fmla="val 50000" name="adj"/>
            </a:avLst>
          </a:prstGeom>
          <a:solidFill>
            <a:srgbClr val="FFB547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!</a:t>
            </a:r>
            <a:endParaRPr/>
          </a:p>
        </p:txBody>
      </p:sp>
      <p:sp>
        <p:nvSpPr>
          <p:cNvPr id="135" name="Google Shape;135;p9"/>
          <p:cNvSpPr txBox="1"/>
          <p:nvPr/>
        </p:nvSpPr>
        <p:spPr>
          <a:xfrm>
            <a:off x="1280160" y="2414016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櫃枱造假 / 濫用</a:t>
            </a:r>
            <a:endParaRPr/>
          </a:p>
        </p:txBody>
      </p:sp>
      <p:sp>
        <p:nvSpPr>
          <p:cNvPr id="136" name="Google Shape;136;p9"/>
          <p:cNvSpPr txBox="1"/>
          <p:nvPr/>
        </p:nvSpPr>
        <p:spPr>
          <a:xfrm>
            <a:off x="1280160" y="276148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C859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員工自己核銷、重複用</a:t>
            </a:r>
            <a:endParaRPr/>
          </a:p>
        </p:txBody>
      </p:sp>
      <p:sp>
        <p:nvSpPr>
          <p:cNvPr id="137" name="Google Shape;137;p9"/>
          <p:cNvSpPr txBox="1"/>
          <p:nvPr/>
        </p:nvSpPr>
        <p:spPr>
          <a:xfrm>
            <a:off x="4572000" y="2395728"/>
            <a:ext cx="3840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B54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→ 一次性 QR、店員掃碼、異常提示</a:t>
            </a:r>
            <a:endParaRPr/>
          </a:p>
        </p:txBody>
      </p:sp>
      <p:sp>
        <p:nvSpPr>
          <p:cNvPr id="138" name="Google Shape;138;p9"/>
          <p:cNvSpPr/>
          <p:nvPr/>
        </p:nvSpPr>
        <p:spPr>
          <a:xfrm>
            <a:off x="548640" y="3328416"/>
            <a:ext cx="8046720" cy="868680"/>
          </a:xfrm>
          <a:prstGeom prst="roundRect">
            <a:avLst>
              <a:gd fmla="val 6000" name="adj"/>
            </a:avLst>
          </a:prstGeom>
          <a:solidFill>
            <a:srgbClr val="F4F1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731520" y="3566160"/>
            <a:ext cx="384048" cy="384048"/>
          </a:xfrm>
          <a:prstGeom prst="roundRect">
            <a:avLst>
              <a:gd fmla="val 50000" name="adj"/>
            </a:avLst>
          </a:prstGeom>
          <a:solidFill>
            <a:srgbClr val="2BB8A6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!</a:t>
            </a:r>
            <a:endParaRPr/>
          </a:p>
        </p:txBody>
      </p:sp>
      <p:sp>
        <p:nvSpPr>
          <p:cNvPr id="140" name="Google Shape;140;p9"/>
          <p:cNvSpPr txBox="1"/>
          <p:nvPr/>
        </p:nvSpPr>
        <p:spPr>
          <a:xfrm>
            <a:off x="1280160" y="3438144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冇商戶又冇客</a:t>
            </a:r>
            <a:endParaRPr/>
          </a:p>
        </p:txBody>
      </p:sp>
      <p:sp>
        <p:nvSpPr>
          <p:cNvPr id="141" name="Google Shape;141;p9"/>
          <p:cNvSpPr txBox="1"/>
          <p:nvPr/>
        </p:nvSpPr>
        <p:spPr>
          <a:xfrm>
            <a:off x="1280160" y="3785616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C859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雙邊平台冷啟動</a:t>
            </a:r>
            <a:endParaRPr/>
          </a:p>
        </p:txBody>
      </p:sp>
      <p:sp>
        <p:nvSpPr>
          <p:cNvPr id="142" name="Google Shape;142;p9"/>
          <p:cNvSpPr txBox="1"/>
          <p:nvPr/>
        </p:nvSpPr>
        <p:spPr>
          <a:xfrm>
            <a:off x="4572000" y="3419856"/>
            <a:ext cx="3840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BB8A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→ 你自己嘅餐飲做首批商戶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/>
          <p:nvPr>
            <p:ph type="title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icrosoft JhengHei"/>
              <a:buNone/>
            </a:pPr>
            <a:r>
              <a:rPr b="1" lang="en-US" sz="3000">
                <a:solidFill>
                  <a:schemeClr val="dk2"/>
                </a:solidFill>
              </a:rPr>
              <a:t>政府資助：可以幫你慳返部分開支</a:t>
            </a:r>
            <a:endParaRPr/>
          </a:p>
        </p:txBody>
      </p:sp>
      <p:sp>
        <p:nvSpPr>
          <p:cNvPr id="148" name="Google Shape;148;p10"/>
          <p:cNvSpPr/>
          <p:nvPr/>
        </p:nvSpPr>
        <p:spPr>
          <a:xfrm>
            <a:off x="548640" y="1280160"/>
            <a:ext cx="3977639" cy="2651760"/>
          </a:xfrm>
          <a:prstGeom prst="roundRect">
            <a:avLst>
              <a:gd fmla="val 6000" name="adj"/>
            </a:avLst>
          </a:prstGeom>
          <a:solidFill>
            <a:srgbClr val="F4F1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49" name="Google Shape;149;p10"/>
          <p:cNvSpPr txBox="1"/>
          <p:nvPr/>
        </p:nvSpPr>
        <p:spPr>
          <a:xfrm>
            <a:off x="777240" y="141732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BUD 專項基金</a:t>
            </a:r>
            <a:endParaRPr/>
          </a:p>
        </p:txBody>
      </p:sp>
      <p:sp>
        <p:nvSpPr>
          <p:cNvPr id="150" name="Google Shape;150;p10"/>
          <p:cNvSpPr txBox="1"/>
          <p:nvPr/>
        </p:nvSpPr>
        <p:spPr>
          <a:xfrm>
            <a:off x="777240" y="1828800"/>
            <a:ext cx="3566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BB8A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50%</a:t>
            </a:r>
            <a:endParaRPr/>
          </a:p>
        </p:txBody>
      </p:sp>
      <p:sp>
        <p:nvSpPr>
          <p:cNvPr id="151" name="Google Shape;151;p10"/>
          <p:cNvSpPr txBox="1"/>
          <p:nvPr/>
        </p:nvSpPr>
        <p:spPr>
          <a:xfrm>
            <a:off x="777240" y="2606040"/>
            <a:ext cx="35661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由你自己公司申請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Easy BUD 每次最多 HK$15 萬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項目要開拓內地 / 東盟市場</a:t>
            </a:r>
            <a:endParaRPr/>
          </a:p>
        </p:txBody>
      </p:sp>
      <p:sp>
        <p:nvSpPr>
          <p:cNvPr id="152" name="Google Shape;152;p10"/>
          <p:cNvSpPr/>
          <p:nvPr/>
        </p:nvSpPr>
        <p:spPr>
          <a:xfrm>
            <a:off x="4617720" y="1280160"/>
            <a:ext cx="3977639" cy="2651760"/>
          </a:xfrm>
          <a:prstGeom prst="roundRect">
            <a:avLst>
              <a:gd fmla="val 6000" name="adj"/>
            </a:avLst>
          </a:prstGeom>
          <a:solidFill>
            <a:srgbClr val="F4F1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53" name="Google Shape;153;p10"/>
          <p:cNvSpPr txBox="1"/>
          <p:nvPr/>
        </p:nvSpPr>
        <p:spPr>
          <a:xfrm>
            <a:off x="4846320" y="141732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數碼港 CCMF</a:t>
            </a:r>
            <a:endParaRPr/>
          </a:p>
        </p:txBody>
      </p:sp>
      <p:sp>
        <p:nvSpPr>
          <p:cNvPr id="154" name="Google Shape;154;p10"/>
          <p:cNvSpPr txBox="1"/>
          <p:nvPr/>
        </p:nvSpPr>
        <p:spPr>
          <a:xfrm>
            <a:off x="4846320" y="1828800"/>
            <a:ext cx="3566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7A5CF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HK$10 萬</a:t>
            </a:r>
            <a:endParaRPr/>
          </a:p>
        </p:txBody>
      </p:sp>
      <p:sp>
        <p:nvSpPr>
          <p:cNvPr id="155" name="Google Shape;155;p10"/>
          <p:cNvSpPr txBox="1"/>
          <p:nvPr/>
        </p:nvSpPr>
        <p:spPr>
          <a:xfrm>
            <a:off x="4846320" y="2606040"/>
            <a:ext cx="35661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如果平台獨立成新創公司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 個月分期發放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下期截止：2026 年 12 月 1 日</a:t>
            </a:r>
            <a:endParaRPr/>
          </a:p>
        </p:txBody>
      </p:sp>
      <p:sp>
        <p:nvSpPr>
          <p:cNvPr id="156" name="Google Shape;156;p10"/>
          <p:cNvSpPr txBox="1"/>
          <p:nvPr/>
        </p:nvSpPr>
        <p:spPr>
          <a:xfrm>
            <a:off x="548640" y="44348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859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注意：資助唔包「賣俾其他商戶嘅平台」本身；條款以工貿署 / 數碼港最新公布為準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/>
          <p:nvPr>
            <p:ph type="title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icrosoft JhengHei"/>
              <a:buNone/>
            </a:pPr>
            <a:r>
              <a:rPr b="1" lang="en-US" sz="3000">
                <a:solidFill>
                  <a:schemeClr val="dk2"/>
                </a:solidFill>
              </a:rPr>
              <a:t>我哋係邊個</a:t>
            </a:r>
            <a:endParaRPr/>
          </a:p>
        </p:txBody>
      </p:sp>
      <p:sp>
        <p:nvSpPr>
          <p:cNvPr id="162" name="Google Shape;162;p11"/>
          <p:cNvSpPr/>
          <p:nvPr/>
        </p:nvSpPr>
        <p:spPr>
          <a:xfrm>
            <a:off x="548640" y="1371600"/>
            <a:ext cx="2514600" cy="2651760"/>
          </a:xfrm>
          <a:prstGeom prst="roundRect">
            <a:avLst>
              <a:gd fmla="val 6000" name="adj"/>
            </a:avLst>
          </a:prstGeom>
          <a:solidFill>
            <a:srgbClr val="F4F1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3" name="Google Shape;163;p11"/>
          <p:cNvSpPr txBox="1"/>
          <p:nvPr/>
        </p:nvSpPr>
        <p:spPr>
          <a:xfrm>
            <a:off x="731520" y="1645920"/>
            <a:ext cx="2148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5A5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 人</a:t>
            </a:r>
            <a:endParaRPr/>
          </a:p>
        </p:txBody>
      </p:sp>
      <p:sp>
        <p:nvSpPr>
          <p:cNvPr id="164" name="Google Shape;164;p11"/>
          <p:cNvSpPr txBox="1"/>
          <p:nvPr/>
        </p:nvSpPr>
        <p:spPr>
          <a:xfrm>
            <a:off x="731520" y="2560320"/>
            <a:ext cx="2148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全部寫 program 出身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設計、開發、上線一手包</a:t>
            </a:r>
            <a:endParaRPr/>
          </a:p>
        </p:txBody>
      </p:sp>
      <p:sp>
        <p:nvSpPr>
          <p:cNvPr id="165" name="Google Shape;165;p11"/>
          <p:cNvSpPr/>
          <p:nvPr/>
        </p:nvSpPr>
        <p:spPr>
          <a:xfrm>
            <a:off x="3291840" y="1371600"/>
            <a:ext cx="2514600" cy="2651760"/>
          </a:xfrm>
          <a:prstGeom prst="roundRect">
            <a:avLst>
              <a:gd fmla="val 6000" name="adj"/>
            </a:avLst>
          </a:prstGeom>
          <a:solidFill>
            <a:srgbClr val="F4F1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6" name="Google Shape;166;p11"/>
          <p:cNvSpPr txBox="1"/>
          <p:nvPr/>
        </p:nvSpPr>
        <p:spPr>
          <a:xfrm>
            <a:off x="3474720" y="1645920"/>
            <a:ext cx="2148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B54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你出諗法</a:t>
            </a:r>
            <a:endParaRPr/>
          </a:p>
        </p:txBody>
      </p:sp>
      <p:sp>
        <p:nvSpPr>
          <p:cNvPr id="167" name="Google Shape;167;p11"/>
          <p:cNvSpPr txBox="1"/>
          <p:nvPr/>
        </p:nvSpPr>
        <p:spPr>
          <a:xfrm>
            <a:off x="3474720" y="2560320"/>
            <a:ext cx="2148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我哋出實行方案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講清楚做乜、幾耐、幾錢</a:t>
            </a:r>
            <a:endParaRPr/>
          </a:p>
        </p:txBody>
      </p:sp>
      <p:sp>
        <p:nvSpPr>
          <p:cNvPr id="168" name="Google Shape;168;p11"/>
          <p:cNvSpPr/>
          <p:nvPr/>
        </p:nvSpPr>
        <p:spPr>
          <a:xfrm>
            <a:off x="6035040" y="1371600"/>
            <a:ext cx="2514600" cy="2651760"/>
          </a:xfrm>
          <a:prstGeom prst="roundRect">
            <a:avLst>
              <a:gd fmla="val 6000" name="adj"/>
            </a:avLst>
          </a:prstGeom>
          <a:solidFill>
            <a:srgbClr val="F4F1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9" name="Google Shape;169;p11"/>
          <p:cNvSpPr txBox="1"/>
          <p:nvPr/>
        </p:nvSpPr>
        <p:spPr>
          <a:xfrm>
            <a:off x="6217920" y="1645920"/>
            <a:ext cx="2148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BB8A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起好交貨</a:t>
            </a:r>
            <a:endParaRPr/>
          </a:p>
        </p:txBody>
      </p:sp>
      <p:sp>
        <p:nvSpPr>
          <p:cNvPr id="170" name="Google Shape;170;p11"/>
          <p:cNvSpPr txBox="1"/>
          <p:nvPr/>
        </p:nvSpPr>
        <p:spPr>
          <a:xfrm>
            <a:off x="6217920" y="2560320"/>
            <a:ext cx="2148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一次性項目收費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由 prototype 到上線</a:t>
            </a:r>
            <a:endParaRPr/>
          </a:p>
        </p:txBody>
      </p:sp>
      <p:sp>
        <p:nvSpPr>
          <p:cNvPr id="171" name="Google Shape;171;p11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C859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[公司名] · 今日嘅 demo 就係我哋一晚做出嚟嘅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 txBox="1"/>
          <p:nvPr>
            <p:ph type="title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icrosoft JhengHei"/>
              <a:buNone/>
            </a:pPr>
            <a:r>
              <a:rPr b="1" lang="en-US" sz="3000">
                <a:solidFill>
                  <a:schemeClr val="dk2"/>
                </a:solidFill>
              </a:rPr>
              <a:t>想了解多啲你嘅生意</a:t>
            </a:r>
            <a:endParaRPr/>
          </a:p>
        </p:txBody>
      </p:sp>
      <p:sp>
        <p:nvSpPr>
          <p:cNvPr id="177" name="Google Shape;177;p12"/>
          <p:cNvSpPr/>
          <p:nvPr/>
        </p:nvSpPr>
        <p:spPr>
          <a:xfrm>
            <a:off x="548640" y="1234440"/>
            <a:ext cx="8046720" cy="512064"/>
          </a:xfrm>
          <a:prstGeom prst="roundRect">
            <a:avLst>
              <a:gd fmla="val 6000" name="adj"/>
            </a:avLst>
          </a:prstGeom>
          <a:solidFill>
            <a:srgbClr val="F4F1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78" name="Google Shape;178;p12"/>
          <p:cNvSpPr/>
          <p:nvPr/>
        </p:nvSpPr>
        <p:spPr>
          <a:xfrm>
            <a:off x="685800" y="1298448"/>
            <a:ext cx="384048" cy="384048"/>
          </a:xfrm>
          <a:prstGeom prst="roundRect">
            <a:avLst>
              <a:gd fmla="val 50000" name="adj"/>
            </a:avLst>
          </a:prstGeom>
          <a:solidFill>
            <a:srgbClr val="FF5A5F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</a:t>
            </a:r>
            <a:endParaRPr/>
          </a:p>
        </p:txBody>
      </p:sp>
      <p:sp>
        <p:nvSpPr>
          <p:cNvPr id="179" name="Google Shape;179;p12"/>
          <p:cNvSpPr txBox="1"/>
          <p:nvPr/>
        </p:nvSpPr>
        <p:spPr>
          <a:xfrm>
            <a:off x="1234440" y="1280160"/>
            <a:ext cx="72237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你而家做緊邊幾類生意？</a:t>
            </a:r>
            <a:endParaRPr/>
          </a:p>
        </p:txBody>
      </p:sp>
      <p:sp>
        <p:nvSpPr>
          <p:cNvPr id="180" name="Google Shape;180;p12"/>
          <p:cNvSpPr/>
          <p:nvPr/>
        </p:nvSpPr>
        <p:spPr>
          <a:xfrm>
            <a:off x="548640" y="1856232"/>
            <a:ext cx="8046720" cy="512064"/>
          </a:xfrm>
          <a:prstGeom prst="roundRect">
            <a:avLst>
              <a:gd fmla="val 6000" name="adj"/>
            </a:avLst>
          </a:prstGeom>
          <a:solidFill>
            <a:srgbClr val="F4F1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81" name="Google Shape;181;p12"/>
          <p:cNvSpPr/>
          <p:nvPr/>
        </p:nvSpPr>
        <p:spPr>
          <a:xfrm>
            <a:off x="685800" y="1920240"/>
            <a:ext cx="384048" cy="384048"/>
          </a:xfrm>
          <a:prstGeom prst="roundRect">
            <a:avLst>
              <a:gd fmla="val 50000" name="adj"/>
            </a:avLst>
          </a:prstGeom>
          <a:solidFill>
            <a:srgbClr val="FFB547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endParaRPr/>
          </a:p>
        </p:txBody>
      </p:sp>
      <p:sp>
        <p:nvSpPr>
          <p:cNvPr id="182" name="Google Shape;182;p12"/>
          <p:cNvSpPr txBox="1"/>
          <p:nvPr/>
        </p:nvSpPr>
        <p:spPr>
          <a:xfrm>
            <a:off x="1234440" y="1901952"/>
            <a:ext cx="72237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手上有幾多商戶 / KOL 關係，可以做第一批？</a:t>
            </a:r>
            <a:endParaRPr/>
          </a:p>
        </p:txBody>
      </p:sp>
      <p:sp>
        <p:nvSpPr>
          <p:cNvPr id="183" name="Google Shape;183;p12"/>
          <p:cNvSpPr/>
          <p:nvPr/>
        </p:nvSpPr>
        <p:spPr>
          <a:xfrm>
            <a:off x="548640" y="2478024"/>
            <a:ext cx="8046720" cy="512064"/>
          </a:xfrm>
          <a:prstGeom prst="roundRect">
            <a:avLst>
              <a:gd fmla="val 6000" name="adj"/>
            </a:avLst>
          </a:prstGeom>
          <a:solidFill>
            <a:srgbClr val="F4F1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685800" y="2542032"/>
            <a:ext cx="384048" cy="384048"/>
          </a:xfrm>
          <a:prstGeom prst="roundRect">
            <a:avLst>
              <a:gd fmla="val 50000" name="adj"/>
            </a:avLst>
          </a:prstGeom>
          <a:solidFill>
            <a:srgbClr val="2BB8A6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/>
          </a:p>
        </p:txBody>
      </p:sp>
      <p:sp>
        <p:nvSpPr>
          <p:cNvPr id="185" name="Google Shape;185;p12"/>
          <p:cNvSpPr txBox="1"/>
          <p:nvPr/>
        </p:nvSpPr>
        <p:spPr>
          <a:xfrm>
            <a:off x="1234440" y="2523744"/>
            <a:ext cx="72237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兩個方向，邊個最啱你嘅客同資源？</a:t>
            </a:r>
            <a:endParaRPr/>
          </a:p>
        </p:txBody>
      </p:sp>
      <p:sp>
        <p:nvSpPr>
          <p:cNvPr id="186" name="Google Shape;186;p12"/>
          <p:cNvSpPr/>
          <p:nvPr/>
        </p:nvSpPr>
        <p:spPr>
          <a:xfrm>
            <a:off x="548640" y="3099816"/>
            <a:ext cx="8046720" cy="512064"/>
          </a:xfrm>
          <a:prstGeom prst="roundRect">
            <a:avLst>
              <a:gd fmla="val 6000" name="adj"/>
            </a:avLst>
          </a:prstGeom>
          <a:solidFill>
            <a:srgbClr val="F4F1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685800" y="3163824"/>
            <a:ext cx="384048" cy="384048"/>
          </a:xfrm>
          <a:prstGeom prst="roundRect">
            <a:avLst>
              <a:gd fmla="val 50000" name="adj"/>
            </a:avLst>
          </a:prstGeom>
          <a:solidFill>
            <a:srgbClr val="7A5CFA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endParaRPr/>
          </a:p>
        </p:txBody>
      </p:sp>
      <p:sp>
        <p:nvSpPr>
          <p:cNvPr id="188" name="Google Shape;188;p12"/>
          <p:cNvSpPr txBox="1"/>
          <p:nvPr/>
        </p:nvSpPr>
        <p:spPr>
          <a:xfrm>
            <a:off x="1234440" y="3145536"/>
            <a:ext cx="72237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平台你想自己營運，定交俾人營運？</a:t>
            </a:r>
            <a:endParaRPr/>
          </a:p>
        </p:txBody>
      </p:sp>
      <p:sp>
        <p:nvSpPr>
          <p:cNvPr id="189" name="Google Shape;189;p12"/>
          <p:cNvSpPr/>
          <p:nvPr/>
        </p:nvSpPr>
        <p:spPr>
          <a:xfrm>
            <a:off x="548640" y="3721608"/>
            <a:ext cx="8046720" cy="512064"/>
          </a:xfrm>
          <a:prstGeom prst="roundRect">
            <a:avLst>
              <a:gd fmla="val 6000" name="adj"/>
            </a:avLst>
          </a:prstGeom>
          <a:solidFill>
            <a:srgbClr val="F4F1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90" name="Google Shape;190;p12"/>
          <p:cNvSpPr/>
          <p:nvPr/>
        </p:nvSpPr>
        <p:spPr>
          <a:xfrm>
            <a:off x="685800" y="3785616"/>
            <a:ext cx="384048" cy="384048"/>
          </a:xfrm>
          <a:prstGeom prst="roundRect">
            <a:avLst>
              <a:gd fmla="val 50000" name="adj"/>
            </a:avLst>
          </a:prstGeom>
          <a:solidFill>
            <a:srgbClr val="8C8597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</a:t>
            </a:r>
            <a:endParaRPr/>
          </a:p>
        </p:txBody>
      </p:sp>
      <p:sp>
        <p:nvSpPr>
          <p:cNvPr id="191" name="Google Shape;191;p12"/>
          <p:cNvSpPr txBox="1"/>
          <p:nvPr/>
        </p:nvSpPr>
        <p:spPr>
          <a:xfrm>
            <a:off x="1234440" y="3767328"/>
            <a:ext cx="72237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F1A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希望幾時見到第一個版本？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 txBox="1"/>
          <p:nvPr>
            <p:ph type="title"/>
          </p:nvPr>
        </p:nvSpPr>
        <p:spPr>
          <a:xfrm>
            <a:off x="548640" y="141732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icrosoft JhengHei"/>
              <a:buNone/>
            </a:pPr>
            <a:r>
              <a:rPr b="1" lang="en-US" sz="4000">
                <a:solidFill>
                  <a:schemeClr val="lt1"/>
                </a:solidFill>
              </a:rPr>
              <a:t>下一步</a:t>
            </a:r>
            <a:endParaRPr/>
          </a:p>
        </p:txBody>
      </p:sp>
      <p:sp>
        <p:nvSpPr>
          <p:cNvPr id="197" name="Google Shape;197;p13"/>
          <p:cNvSpPr txBox="1"/>
          <p:nvPr>
            <p:ph idx="1" type="body"/>
          </p:nvPr>
        </p:nvSpPr>
        <p:spPr>
          <a:xfrm>
            <a:off x="548640" y="246888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</a:pPr>
            <a:r>
              <a:rPr lang="en-US" sz="1600">
                <a:solidFill>
                  <a:schemeClr val="accent2"/>
                </a:solidFill>
              </a:rPr>
              <a:t>你揀方向 → 我哋出詳細實行方案同報價 → 開工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reator Plum">
  <a:themeElements>
    <a:clrScheme name="Creator Plum">
      <a:dk1>
        <a:srgbClr val="1F1A2B"/>
      </a:dk1>
      <a:lt1>
        <a:srgbClr val="FFFFFF"/>
      </a:lt1>
      <a:dk2>
        <a:srgbClr val="2A1E3F"/>
      </a:dk2>
      <a:lt2>
        <a:srgbClr val="F4F1F8"/>
      </a:lt2>
      <a:accent1>
        <a:srgbClr val="FF5A5F"/>
      </a:accent1>
      <a:accent2>
        <a:srgbClr val="FFB547"/>
      </a:accent2>
      <a:accent3>
        <a:srgbClr val="2BB8A6"/>
      </a:accent3>
      <a:accent4>
        <a:srgbClr val="7A5CFA"/>
      </a:accent4>
      <a:accent5>
        <a:srgbClr val="8C8597"/>
      </a:accent5>
      <a:accent6>
        <a:srgbClr val="E8E3F0"/>
      </a:accent6>
      <a:hlink>
        <a:srgbClr val="7A5CFA"/>
      </a:hlink>
      <a:folHlink>
        <a:srgbClr val="8C85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reator Plum">
  <a:themeElements>
    <a:clrScheme name="Creator Plum">
      <a:dk1>
        <a:srgbClr val="1F1A2B"/>
      </a:dk1>
      <a:lt1>
        <a:srgbClr val="FFFFFF"/>
      </a:lt1>
      <a:dk2>
        <a:srgbClr val="2A1E3F"/>
      </a:dk2>
      <a:lt2>
        <a:srgbClr val="F4F1F8"/>
      </a:lt2>
      <a:accent1>
        <a:srgbClr val="FF5A5F"/>
      </a:accent1>
      <a:accent2>
        <a:srgbClr val="FFB547"/>
      </a:accent2>
      <a:accent3>
        <a:srgbClr val="2BB8A6"/>
      </a:accent3>
      <a:accent4>
        <a:srgbClr val="7A5CFA"/>
      </a:accent4>
      <a:accent5>
        <a:srgbClr val="8C8597"/>
      </a:accent5>
      <a:accent6>
        <a:srgbClr val="E8E3F0"/>
      </a:accent6>
      <a:hlink>
        <a:srgbClr val="7A5CFA"/>
      </a:hlink>
      <a:folHlink>
        <a:srgbClr val="8C85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2026-10-13T07:09:36Z</dcterms:created>
  <dc:creator>PptxGenJS</dc:creator>
</cp:coreProperties>
</file>